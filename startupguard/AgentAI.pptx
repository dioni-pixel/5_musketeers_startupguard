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60" d="100"/>
          <a:sy n="160" d="100"/>
        </p:scale>
        <p:origin x="1830" y="13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010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037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009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885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10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5335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412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6213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722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2511769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2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222300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EAF1FF"/>
          </a:solidFill>
          <a:ln/>
        </p:spPr>
      </p:sp>
      <p:pic>
        <p:nvPicPr>
          <p:cNvPr id="109519719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377786" name="Text 0"/>
          <p:cNvSpPr/>
          <p:nvPr/>
        </p:nvSpPr>
        <p:spPr bwMode="auto">
          <a:xfrm>
            <a:off x="711182" y="2622252"/>
            <a:ext cx="619744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100" spc="6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</a:rPr>
              <a:t>INVESTOR OVERVIEW</a:t>
            </a:r>
            <a:endParaRPr lang="en-US" sz="1100"/>
          </a:p>
        </p:txBody>
      </p:sp>
      <p:sp>
        <p:nvSpPr>
          <p:cNvPr id="208801808" name="Text 1"/>
          <p:cNvSpPr/>
          <p:nvPr/>
        </p:nvSpPr>
        <p:spPr bwMode="auto">
          <a:xfrm>
            <a:off x="711182" y="2896989"/>
            <a:ext cx="589265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4400" b="1" spc="-110">
                <a:solidFill>
                  <a:srgbClr val="0B1F3A"/>
                </a:solidFill>
                <a:latin typeface="Sora Bold"/>
                <a:ea typeface="Sora Bold"/>
                <a:cs typeface="Sora Bold"/>
              </a:rPr>
              <a:t>StartupGuard AI</a:t>
            </a:r>
            <a:endParaRPr lang="en-US" sz="4400"/>
          </a:p>
        </p:txBody>
      </p:sp>
      <p:sp>
        <p:nvSpPr>
          <p:cNvPr id="1426705212" name="Text 2"/>
          <p:cNvSpPr/>
          <p:nvPr/>
        </p:nvSpPr>
        <p:spPr bwMode="auto">
          <a:xfrm>
            <a:off x="711182" y="3684389"/>
            <a:ext cx="589265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  <a:defRPr/>
            </a:pPr>
            <a:r>
              <a:rPr lang="en-US" sz="3400" b="1" spc="-68">
                <a:solidFill>
                  <a:srgbClr val="0B1F3A"/>
                </a:solidFill>
                <a:latin typeface="Sora Bold"/>
                <a:ea typeface="Sora Bold"/>
                <a:cs typeface="Sora Bold"/>
              </a:rPr>
              <a:t>See business risk before it hits</a:t>
            </a:r>
            <a:endParaRPr lang="en-US" sz="3400"/>
          </a:p>
        </p:txBody>
      </p:sp>
      <p:sp>
        <p:nvSpPr>
          <p:cNvPr id="1954643146" name="Text 3"/>
          <p:cNvSpPr/>
          <p:nvPr/>
        </p:nvSpPr>
        <p:spPr bwMode="auto">
          <a:xfrm>
            <a:off x="711182" y="4852205"/>
            <a:ext cx="6197445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Founders discover problems too late:</a:t>
            </a:r>
            <a:endParaRPr lang="en-US" sz="1700"/>
          </a:p>
        </p:txBody>
      </p:sp>
      <p:sp>
        <p:nvSpPr>
          <p:cNvPr id="1502484717" name="Text 4"/>
          <p:cNvSpPr/>
          <p:nvPr/>
        </p:nvSpPr>
        <p:spPr bwMode="auto">
          <a:xfrm>
            <a:off x="711182" y="5278636"/>
            <a:ext cx="5892653" cy="10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345440" indent="-345440" algn="l">
              <a:lnSpc>
                <a:spcPct val="114999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Financial data is scattered across different tools</a:t>
            </a:r>
            <a:endParaRPr/>
          </a:p>
          <a:p>
            <a:pPr marL="345440" indent="-345440" algn="l">
              <a:lnSpc>
                <a:spcPct val="114999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Competitor moves often go unnoticed</a:t>
            </a:r>
            <a:endParaRPr/>
          </a:p>
          <a:p>
            <a:pPr marL="345440" indent="-345440" algn="l">
              <a:lnSpc>
                <a:spcPct val="114999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Important decisions are made without seeing their impact on runway</a:t>
            </a:r>
            <a:endParaRPr lang="en-US" sz="1700"/>
          </a:p>
        </p:txBody>
      </p:sp>
      <p:sp>
        <p:nvSpPr>
          <p:cNvPr id="2113330095" name="Shape 5"/>
          <p:cNvSpPr/>
          <p:nvPr/>
        </p:nvSpPr>
        <p:spPr bwMode="auto">
          <a:xfrm>
            <a:off x="6908627" y="0"/>
            <a:ext cx="5283068" cy="6858000"/>
          </a:xfrm>
          <a:prstGeom prst="rect">
            <a:avLst/>
          </a:prstGeom>
          <a:solidFill>
            <a:srgbClr val="EAF1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260387" name="Shape 6"/>
          <p:cNvSpPr/>
          <p:nvPr/>
        </p:nvSpPr>
        <p:spPr bwMode="auto">
          <a:xfrm>
            <a:off x="7264217" y="469305"/>
            <a:ext cx="1144767" cy="343495"/>
          </a:xfrm>
          <a:prstGeom prst="roundRect">
            <a:avLst>
              <a:gd name="adj" fmla="val 21118"/>
            </a:avLst>
          </a:prstGeom>
          <a:solidFill>
            <a:srgbClr val="CCDD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4726464" name="Text 7"/>
          <p:cNvSpPr/>
          <p:nvPr/>
        </p:nvSpPr>
        <p:spPr bwMode="auto">
          <a:xfrm>
            <a:off x="7396118" y="533995"/>
            <a:ext cx="900967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350" spc="14">
                <a:solidFill>
                  <a:srgbClr val="0B1F3A"/>
                </a:solidFill>
                <a:latin typeface="IBM Plex Sans SemiBold"/>
                <a:ea typeface="IBM Plex Sans SemiBold"/>
                <a:cs typeface="IBM Plex Sans SemiBold"/>
              </a:rPr>
              <a:t>Dashboard</a:t>
            </a:r>
            <a:endParaRPr lang="en-US" sz="1350"/>
          </a:p>
        </p:txBody>
      </p:sp>
      <p:sp>
        <p:nvSpPr>
          <p:cNvPr id="47775576" name="Shape 8"/>
          <p:cNvSpPr/>
          <p:nvPr/>
        </p:nvSpPr>
        <p:spPr bwMode="auto">
          <a:xfrm>
            <a:off x="8516932" y="469305"/>
            <a:ext cx="1092024" cy="343495"/>
          </a:xfrm>
          <a:prstGeom prst="roundRect">
            <a:avLst>
              <a:gd name="adj" fmla="val 21118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0800071" name="Text 9"/>
          <p:cNvSpPr/>
          <p:nvPr/>
        </p:nvSpPr>
        <p:spPr bwMode="auto">
          <a:xfrm>
            <a:off x="8648832" y="533995"/>
            <a:ext cx="84822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350" spc="14">
                <a:solidFill>
                  <a:srgbClr val="000000"/>
                </a:solidFill>
                <a:latin typeface="IBM Plex Sans SemiBold"/>
                <a:ea typeface="IBM Plex Sans SemiBold"/>
                <a:cs typeface="IBM Plex Sans SemiBold"/>
              </a:rPr>
              <a:t>Financials</a:t>
            </a:r>
            <a:endParaRPr lang="en-US" sz="1350"/>
          </a:p>
        </p:txBody>
      </p:sp>
      <p:sp>
        <p:nvSpPr>
          <p:cNvPr id="1437082359" name="Shape 10"/>
          <p:cNvSpPr/>
          <p:nvPr/>
        </p:nvSpPr>
        <p:spPr bwMode="auto">
          <a:xfrm>
            <a:off x="9716903" y="469305"/>
            <a:ext cx="1161525" cy="343495"/>
          </a:xfrm>
          <a:prstGeom prst="roundRect">
            <a:avLst>
              <a:gd name="adj" fmla="val 21118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4253792" name="Text 11"/>
          <p:cNvSpPr/>
          <p:nvPr/>
        </p:nvSpPr>
        <p:spPr bwMode="auto">
          <a:xfrm>
            <a:off x="9848803" y="533995"/>
            <a:ext cx="917725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350" spc="14">
                <a:solidFill>
                  <a:srgbClr val="000000"/>
                </a:solidFill>
                <a:latin typeface="IBM Plex Sans SemiBold"/>
                <a:ea typeface="IBM Plex Sans SemiBold"/>
                <a:cs typeface="IBM Plex Sans SemiBold"/>
              </a:rPr>
              <a:t>AI Insights</a:t>
            </a:r>
            <a:endParaRPr lang="en-US" sz="1350"/>
          </a:p>
        </p:txBody>
      </p:sp>
      <p:sp>
        <p:nvSpPr>
          <p:cNvPr id="452450255" name="Shape 12"/>
          <p:cNvSpPr/>
          <p:nvPr/>
        </p:nvSpPr>
        <p:spPr bwMode="auto">
          <a:xfrm>
            <a:off x="7264217" y="1046707"/>
            <a:ext cx="2184246" cy="1272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0485759" name="Text 13"/>
          <p:cNvSpPr/>
          <p:nvPr/>
        </p:nvSpPr>
        <p:spPr bwMode="auto">
          <a:xfrm>
            <a:off x="7492813" y="1270000"/>
            <a:ext cx="195565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Runway</a:t>
            </a:r>
            <a:endParaRPr lang="en-US" sz="1100"/>
          </a:p>
        </p:txBody>
      </p:sp>
      <p:sp>
        <p:nvSpPr>
          <p:cNvPr id="1113497815" name="Text 14"/>
          <p:cNvSpPr/>
          <p:nvPr/>
        </p:nvSpPr>
        <p:spPr bwMode="auto">
          <a:xfrm>
            <a:off x="7492812" y="1682947"/>
            <a:ext cx="710285" cy="404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400">
                <a:solidFill>
                  <a:srgbClr val="0B1F3A"/>
                </a:solidFill>
                <a:latin typeface="ArcadeClassic"/>
                <a:ea typeface="ArcadeClassic"/>
                <a:cs typeface="ArcadeClassic"/>
              </a:rPr>
              <a:t>30 </a:t>
            </a:r>
            <a:r>
              <a:rPr lang="en-US" sz="2400">
                <a:solidFill>
                  <a:srgbClr val="0B1F3A"/>
                </a:solidFill>
                <a:latin typeface="ArcadeClassic"/>
                <a:ea typeface="ArcadeClassic"/>
                <a:cs typeface="ArcadeClassic"/>
              </a:rPr>
              <a:t>mo</a:t>
            </a:r>
            <a:endParaRPr sz="2400">
              <a:latin typeface="ArcadeClassic"/>
              <a:cs typeface="ArcadeClassic"/>
            </a:endParaRPr>
          </a:p>
        </p:txBody>
      </p:sp>
      <p:sp>
        <p:nvSpPr>
          <p:cNvPr id="1926300557" name="Shape 15"/>
          <p:cNvSpPr/>
          <p:nvPr/>
        </p:nvSpPr>
        <p:spPr bwMode="auto">
          <a:xfrm>
            <a:off x="9600861" y="1041400"/>
            <a:ext cx="2184345" cy="1272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6562662" name="Text 16"/>
          <p:cNvSpPr/>
          <p:nvPr/>
        </p:nvSpPr>
        <p:spPr bwMode="auto">
          <a:xfrm>
            <a:off x="9829455" y="1270000"/>
            <a:ext cx="1955751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Cash balance</a:t>
            </a:r>
            <a:endParaRPr lang="en-US" sz="1100"/>
          </a:p>
        </p:txBody>
      </p:sp>
      <p:sp>
        <p:nvSpPr>
          <p:cNvPr id="1499277344" name="Text 17"/>
          <p:cNvSpPr/>
          <p:nvPr/>
        </p:nvSpPr>
        <p:spPr bwMode="auto">
          <a:xfrm>
            <a:off x="9829454" y="1682947"/>
            <a:ext cx="840787" cy="40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400">
                <a:solidFill>
                  <a:srgbClr val="0B1F3A"/>
                </a:solidFill>
                <a:latin typeface="ArcadeClassic"/>
                <a:ea typeface="ArcadeClassic"/>
                <a:cs typeface="ArcadeClassic"/>
              </a:rPr>
              <a:t>€120K</a:t>
            </a:r>
            <a:endParaRPr sz="2400">
              <a:latin typeface="ArcadeClassic"/>
              <a:cs typeface="ArcadeClassic"/>
            </a:endParaRPr>
          </a:p>
        </p:txBody>
      </p:sp>
      <p:pic>
        <p:nvPicPr>
          <p:cNvPr id="5106464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77810" y="2542480"/>
            <a:ext cx="4521087" cy="3846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4718" name="Text 0"/>
          <p:cNvSpPr/>
          <p:nvPr/>
        </p:nvSpPr>
        <p:spPr bwMode="auto">
          <a:xfrm>
            <a:off x="558786" y="457200"/>
            <a:ext cx="6756231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100" spc="6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</a:rPr>
              <a:t>THE SOLUTION</a:t>
            </a:r>
            <a:endParaRPr lang="en-US" sz="1100"/>
          </a:p>
        </p:txBody>
      </p:sp>
      <p:sp>
        <p:nvSpPr>
          <p:cNvPr id="1704549113" name="Text 1"/>
          <p:cNvSpPr/>
          <p:nvPr/>
        </p:nvSpPr>
        <p:spPr bwMode="auto">
          <a:xfrm>
            <a:off x="558786" y="731937"/>
            <a:ext cx="6400640" cy="1183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  <a:defRPr/>
            </a:pPr>
            <a:r>
              <a:rPr lang="en-US" sz="3400" b="1" spc="-68">
                <a:solidFill>
                  <a:srgbClr val="0B1F3A"/>
                </a:solidFill>
                <a:latin typeface="Sora Bold"/>
                <a:ea typeface="Sora Bold"/>
                <a:cs typeface="Sora Bold"/>
              </a:rPr>
              <a:t>One AI platform combines your business data with local market intelligence</a:t>
            </a:r>
            <a:endParaRPr lang="en-US" sz="3400"/>
          </a:p>
        </p:txBody>
      </p:sp>
      <p:sp>
        <p:nvSpPr>
          <p:cNvPr id="830433120" name="Shape 2"/>
          <p:cNvSpPr/>
          <p:nvPr/>
        </p:nvSpPr>
        <p:spPr bwMode="auto">
          <a:xfrm>
            <a:off x="558786" y="2907209"/>
            <a:ext cx="3124023" cy="15387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330610" name="Text 3"/>
          <p:cNvSpPr/>
          <p:nvPr/>
        </p:nvSpPr>
        <p:spPr bwMode="auto">
          <a:xfrm>
            <a:off x="787380" y="3135809"/>
            <a:ext cx="266683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Internal</a:t>
            </a:r>
            <a:endParaRPr lang="en-US" sz="1800"/>
          </a:p>
        </p:txBody>
      </p:sp>
      <p:sp>
        <p:nvSpPr>
          <p:cNvPr id="1385400542" name="Text 4"/>
          <p:cNvSpPr/>
          <p:nvPr/>
        </p:nvSpPr>
        <p:spPr bwMode="auto">
          <a:xfrm>
            <a:off x="787380" y="3621683"/>
            <a:ext cx="266683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Revenue, expenses, cash, burn rate, runway, growth</a:t>
            </a:r>
            <a:endParaRPr lang="en-US" sz="1700"/>
          </a:p>
        </p:txBody>
      </p:sp>
      <p:sp>
        <p:nvSpPr>
          <p:cNvPr id="1523507218" name="Shape 5"/>
          <p:cNvSpPr/>
          <p:nvPr/>
        </p:nvSpPr>
        <p:spPr bwMode="auto">
          <a:xfrm>
            <a:off x="3835204" y="2907209"/>
            <a:ext cx="3124122" cy="15387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9234416" name="Text 6"/>
          <p:cNvSpPr/>
          <p:nvPr/>
        </p:nvSpPr>
        <p:spPr bwMode="auto">
          <a:xfrm>
            <a:off x="4063799" y="3135809"/>
            <a:ext cx="266693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External</a:t>
            </a:r>
            <a:endParaRPr lang="en-US" sz="1800"/>
          </a:p>
        </p:txBody>
      </p:sp>
      <p:sp>
        <p:nvSpPr>
          <p:cNvPr id="819237935" name="Text 7"/>
          <p:cNvSpPr/>
          <p:nvPr/>
        </p:nvSpPr>
        <p:spPr bwMode="auto">
          <a:xfrm>
            <a:off x="4031459" y="3575426"/>
            <a:ext cx="2666933" cy="966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/>
            </a:pPr>
            <a:r>
              <a:rPr lang="en-US" sz="1600"/>
              <a:t>Competitors, pricing, price history, partnerships, launches, local market activity</a:t>
            </a:r>
            <a:endParaRPr lang="en-US" sz="1700"/>
          </a:p>
        </p:txBody>
      </p:sp>
      <p:sp>
        <p:nvSpPr>
          <p:cNvPr id="574496706" name="Text 8"/>
          <p:cNvSpPr/>
          <p:nvPr/>
        </p:nvSpPr>
        <p:spPr bwMode="auto">
          <a:xfrm>
            <a:off x="558786" y="4598392"/>
            <a:ext cx="868738" cy="21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700">
                <a:solidFill>
                  <a:srgbClr val="EAF1FF"/>
                </a:solidFill>
                <a:latin typeface="IBM Plex Sans SemiBold"/>
                <a:ea typeface="IBM Plex Sans SemiBold"/>
                <a:cs typeface="IBM Plex Sans SemiBold"/>
              </a:rPr>
              <a:t>01</a:t>
            </a:r>
            <a:endParaRPr lang="en-US" sz="1700"/>
          </a:p>
        </p:txBody>
      </p:sp>
      <p:sp>
        <p:nvSpPr>
          <p:cNvPr id="827711511" name="Shape 9"/>
          <p:cNvSpPr/>
          <p:nvPr/>
        </p:nvSpPr>
        <p:spPr bwMode="auto">
          <a:xfrm>
            <a:off x="558786" y="4900712"/>
            <a:ext cx="1930352" cy="19050"/>
          </a:xfrm>
          <a:prstGeom prst="rect">
            <a:avLst/>
          </a:prstGeom>
          <a:solidFill>
            <a:srgbClr val="EAF1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9346176" name="Text 10"/>
          <p:cNvSpPr/>
          <p:nvPr/>
        </p:nvSpPr>
        <p:spPr bwMode="auto">
          <a:xfrm>
            <a:off x="558786" y="5021362"/>
            <a:ext cx="193035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Simulate</a:t>
            </a:r>
            <a:endParaRPr lang="en-US" sz="1800"/>
          </a:p>
        </p:txBody>
      </p:sp>
      <p:sp>
        <p:nvSpPr>
          <p:cNvPr id="1573690808" name="Text 11"/>
          <p:cNvSpPr/>
          <p:nvPr/>
        </p:nvSpPr>
        <p:spPr bwMode="auto">
          <a:xfrm>
            <a:off x="558786" y="5507236"/>
            <a:ext cx="1930352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See how decisions impact burn rate and runway</a:t>
            </a:r>
            <a:endParaRPr lang="en-US" sz="1700"/>
          </a:p>
        </p:txBody>
      </p:sp>
      <p:sp>
        <p:nvSpPr>
          <p:cNvPr id="1879187469" name="Text 12"/>
          <p:cNvSpPr/>
          <p:nvPr/>
        </p:nvSpPr>
        <p:spPr bwMode="auto">
          <a:xfrm>
            <a:off x="2793930" y="4598392"/>
            <a:ext cx="868738" cy="21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700">
                <a:solidFill>
                  <a:srgbClr val="EAF1FF"/>
                </a:solidFill>
                <a:latin typeface="IBM Plex Sans SemiBold"/>
                <a:ea typeface="IBM Plex Sans SemiBold"/>
                <a:cs typeface="IBM Plex Sans SemiBold"/>
              </a:rPr>
              <a:t>02</a:t>
            </a:r>
            <a:endParaRPr lang="en-US" sz="1700"/>
          </a:p>
        </p:txBody>
      </p:sp>
      <p:sp>
        <p:nvSpPr>
          <p:cNvPr id="705119179" name="Shape 13"/>
          <p:cNvSpPr/>
          <p:nvPr/>
        </p:nvSpPr>
        <p:spPr bwMode="auto">
          <a:xfrm>
            <a:off x="2793930" y="4900712"/>
            <a:ext cx="1930352" cy="19050"/>
          </a:xfrm>
          <a:prstGeom prst="rect">
            <a:avLst/>
          </a:prstGeom>
          <a:solidFill>
            <a:srgbClr val="EAF1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5455057" name="Text 14"/>
          <p:cNvSpPr/>
          <p:nvPr/>
        </p:nvSpPr>
        <p:spPr bwMode="auto">
          <a:xfrm>
            <a:off x="2793930" y="5021362"/>
            <a:ext cx="193035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Compare</a:t>
            </a:r>
            <a:endParaRPr lang="en-US" sz="1800"/>
          </a:p>
        </p:txBody>
      </p:sp>
      <p:sp>
        <p:nvSpPr>
          <p:cNvPr id="1471338268" name="Text 15"/>
          <p:cNvSpPr/>
          <p:nvPr/>
        </p:nvSpPr>
        <p:spPr bwMode="auto">
          <a:xfrm>
            <a:off x="2793930" y="5507236"/>
            <a:ext cx="1930352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Compare pricing, trends, and competitor activity</a:t>
            </a:r>
            <a:endParaRPr lang="en-US" sz="1700"/>
          </a:p>
        </p:txBody>
      </p:sp>
      <p:sp>
        <p:nvSpPr>
          <p:cNvPr id="142688272" name="Text 16"/>
          <p:cNvSpPr/>
          <p:nvPr/>
        </p:nvSpPr>
        <p:spPr bwMode="auto">
          <a:xfrm>
            <a:off x="5029073" y="4598392"/>
            <a:ext cx="868738" cy="21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700">
                <a:solidFill>
                  <a:srgbClr val="EAF1FF"/>
                </a:solidFill>
                <a:latin typeface="IBM Plex Sans SemiBold"/>
                <a:ea typeface="IBM Plex Sans SemiBold"/>
                <a:cs typeface="IBM Plex Sans SemiBold"/>
              </a:rPr>
              <a:t>03</a:t>
            </a:r>
            <a:endParaRPr lang="en-US" sz="1700"/>
          </a:p>
        </p:txBody>
      </p:sp>
      <p:sp>
        <p:nvSpPr>
          <p:cNvPr id="1137899389" name="Shape 17"/>
          <p:cNvSpPr/>
          <p:nvPr/>
        </p:nvSpPr>
        <p:spPr bwMode="auto">
          <a:xfrm>
            <a:off x="5029073" y="4900712"/>
            <a:ext cx="1930352" cy="19050"/>
          </a:xfrm>
          <a:prstGeom prst="rect">
            <a:avLst/>
          </a:prstGeom>
          <a:solidFill>
            <a:srgbClr val="EAF1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2214637" name="Text 18"/>
          <p:cNvSpPr/>
          <p:nvPr/>
        </p:nvSpPr>
        <p:spPr bwMode="auto">
          <a:xfrm>
            <a:off x="5029073" y="5021362"/>
            <a:ext cx="193035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Act</a:t>
            </a:r>
            <a:endParaRPr lang="en-US" sz="1800"/>
          </a:p>
        </p:txBody>
      </p:sp>
      <p:sp>
        <p:nvSpPr>
          <p:cNvPr id="2119767261" name="Text 19"/>
          <p:cNvSpPr/>
          <p:nvPr/>
        </p:nvSpPr>
        <p:spPr bwMode="auto">
          <a:xfrm>
            <a:off x="5029073" y="5507236"/>
            <a:ext cx="1930352" cy="97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7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Get clear AI recommendations on what to do next</a:t>
            </a:r>
            <a:endParaRPr lang="en-US" sz="1700"/>
          </a:p>
        </p:txBody>
      </p:sp>
      <p:sp>
        <p:nvSpPr>
          <p:cNvPr id="45529900" name="Shape 20"/>
          <p:cNvSpPr/>
          <p:nvPr/>
        </p:nvSpPr>
        <p:spPr bwMode="auto">
          <a:xfrm>
            <a:off x="7315017" y="0"/>
            <a:ext cx="4876678" cy="6858000"/>
          </a:xfrm>
          <a:prstGeom prst="rect">
            <a:avLst/>
          </a:prstGeom>
          <a:solidFill>
            <a:srgbClr val="EAF1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8270961" name="Shape 21"/>
          <p:cNvSpPr/>
          <p:nvPr/>
        </p:nvSpPr>
        <p:spPr bwMode="auto">
          <a:xfrm>
            <a:off x="7721407" y="1343720"/>
            <a:ext cx="1264909" cy="343495"/>
          </a:xfrm>
          <a:prstGeom prst="roundRect">
            <a:avLst>
              <a:gd name="adj" fmla="val 21118"/>
            </a:avLst>
          </a:prstGeom>
          <a:solidFill>
            <a:srgbClr val="CCDDF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1052232" name="Text 22"/>
          <p:cNvSpPr/>
          <p:nvPr/>
        </p:nvSpPr>
        <p:spPr bwMode="auto">
          <a:xfrm>
            <a:off x="7853307" y="1408410"/>
            <a:ext cx="1021109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350" spc="14">
                <a:solidFill>
                  <a:srgbClr val="0B1F3A"/>
                </a:solidFill>
                <a:latin typeface="IBM Plex Sans SemiBold"/>
                <a:ea typeface="IBM Plex Sans SemiBold"/>
                <a:cs typeface="IBM Plex Sans SemiBold"/>
              </a:rPr>
              <a:t>Competitors</a:t>
            </a:r>
            <a:endParaRPr lang="en-US" sz="1350"/>
          </a:p>
        </p:txBody>
      </p:sp>
      <p:sp>
        <p:nvSpPr>
          <p:cNvPr id="524356100" name="Shape 23"/>
          <p:cNvSpPr/>
          <p:nvPr/>
        </p:nvSpPr>
        <p:spPr bwMode="auto">
          <a:xfrm>
            <a:off x="9094263" y="1343720"/>
            <a:ext cx="1554056" cy="343495"/>
          </a:xfrm>
          <a:prstGeom prst="roundRect">
            <a:avLst>
              <a:gd name="adj" fmla="val 21118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0076840" name="Text 24"/>
          <p:cNvSpPr/>
          <p:nvPr/>
        </p:nvSpPr>
        <p:spPr bwMode="auto">
          <a:xfrm>
            <a:off x="9226163" y="1408410"/>
            <a:ext cx="1310256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350" spc="14">
                <a:solidFill>
                  <a:srgbClr val="000000"/>
                </a:solidFill>
                <a:latin typeface="IBM Plex Sans SemiBold"/>
                <a:ea typeface="IBM Plex Sans SemiBold"/>
                <a:cs typeface="IBM Plex Sans SemiBold"/>
              </a:rPr>
              <a:t>Market Analysis</a:t>
            </a:r>
            <a:endParaRPr lang="en-US" sz="1350"/>
          </a:p>
        </p:txBody>
      </p:sp>
      <p:pic>
        <p:nvPicPr>
          <p:cNvPr id="166760348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21407" y="1915815"/>
            <a:ext cx="4063898" cy="3598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958355" name="Text 0"/>
          <p:cNvSpPr/>
          <p:nvPr/>
        </p:nvSpPr>
        <p:spPr bwMode="auto">
          <a:xfrm>
            <a:off x="711182" y="2094508"/>
            <a:ext cx="1137891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/>
            </a:pPr>
            <a:r>
              <a:rPr lang="en-US" sz="1100" spc="60">
                <a:solidFill>
                  <a:srgbClr val="000000"/>
                </a:solidFill>
                <a:latin typeface="IBM Plex Sans SemiBold"/>
                <a:ea typeface="IBM Plex Sans SemiBold"/>
                <a:cs typeface="IBM Plex Sans SemiBold"/>
              </a:rPr>
              <a:t>THE OUTCOME</a:t>
            </a:r>
            <a:endParaRPr lang="en-US" sz="1100"/>
          </a:p>
        </p:txBody>
      </p:sp>
      <p:sp>
        <p:nvSpPr>
          <p:cNvPr id="799892795" name="Text 1"/>
          <p:cNvSpPr/>
          <p:nvPr/>
        </p:nvSpPr>
        <p:spPr bwMode="auto">
          <a:xfrm>
            <a:off x="675050" y="2286584"/>
            <a:ext cx="11378915" cy="1371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4400" b="1" spc="-110">
                <a:solidFill>
                  <a:srgbClr val="000000"/>
                </a:solidFill>
                <a:latin typeface="Sora Bold"/>
                <a:ea typeface="Sora Bold"/>
                <a:cs typeface="Sora Bold"/>
              </a:rPr>
              <a:t>Founders detect risks earlier and make better-</a:t>
            </a:r>
            <a:r>
              <a:rPr lang="en-US" sz="4400" b="1" spc="-110">
                <a:solidFill>
                  <a:srgbClr val="2563EB"/>
                </a:solidFill>
                <a:latin typeface="Sora Bold"/>
                <a:ea typeface="Sora Bold"/>
                <a:cs typeface="Sora Bold"/>
              </a:rPr>
              <a:t>informed decisions. </a:t>
            </a:r>
            <a:endParaRPr lang="en-US" sz="4400"/>
          </a:p>
        </p:txBody>
      </p:sp>
      <p:sp>
        <p:nvSpPr>
          <p:cNvPr id="1700587317" name="Shape 2"/>
          <p:cNvSpPr/>
          <p:nvPr/>
        </p:nvSpPr>
        <p:spPr bwMode="auto">
          <a:xfrm>
            <a:off x="711182" y="3740845"/>
            <a:ext cx="3386549" cy="1022548"/>
          </a:xfrm>
          <a:prstGeom prst="roundRect">
            <a:avLst>
              <a:gd name="adj" fmla="val 20865"/>
            </a:avLst>
          </a:prstGeom>
          <a:solidFill>
            <a:srgbClr val="FFFFFF"/>
          </a:solidFill>
          <a:ln w="6350">
            <a:solidFill>
              <a:srgbClr val="D5DEEE"/>
            </a:solidFill>
            <a:prstDash val="solid"/>
          </a:ln>
          <a:effectLst>
            <a:outerShdw blurRad="227330" dist="74930" dir="5400000" algn="bl" rotWithShape="0">
              <a:srgbClr val="EAF1FF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7672812" name="Text 3"/>
          <p:cNvSpPr/>
          <p:nvPr/>
        </p:nvSpPr>
        <p:spPr bwMode="auto">
          <a:xfrm>
            <a:off x="946126" y="3950395"/>
            <a:ext cx="2916661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Earlier warnings on financial and competitive risks</a:t>
            </a:r>
            <a:endParaRPr lang="en-US" sz="1800"/>
          </a:p>
        </p:txBody>
      </p:sp>
      <p:sp>
        <p:nvSpPr>
          <p:cNvPr id="1257397435" name="Shape 4"/>
          <p:cNvSpPr/>
          <p:nvPr/>
        </p:nvSpPr>
        <p:spPr bwMode="auto">
          <a:xfrm>
            <a:off x="4402523" y="3740845"/>
            <a:ext cx="3386549" cy="1022548"/>
          </a:xfrm>
          <a:prstGeom prst="roundRect">
            <a:avLst>
              <a:gd name="adj" fmla="val 20865"/>
            </a:avLst>
          </a:prstGeom>
          <a:solidFill>
            <a:srgbClr val="FFFFFF"/>
          </a:solidFill>
          <a:ln w="6350">
            <a:solidFill>
              <a:srgbClr val="D5DEEE"/>
            </a:solidFill>
            <a:prstDash val="solid"/>
          </a:ln>
          <a:effectLst>
            <a:outerShdw blurRad="227330" dist="74930" dir="5400000" algn="bl" rotWithShape="0">
              <a:srgbClr val="EAF1FF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4820067" name="Text 5"/>
          <p:cNvSpPr/>
          <p:nvPr/>
        </p:nvSpPr>
        <p:spPr bwMode="auto">
          <a:xfrm>
            <a:off x="4637468" y="3950395"/>
            <a:ext cx="2916661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0B1F3A"/>
                </a:solidFill>
                <a:latin typeface="IBM Plex Sans"/>
                <a:ea typeface="IBM Plex Sans"/>
                <a:cs typeface="IBM Plex Sans"/>
              </a:rPr>
              <a:t>Simulate important decisions before committing</a:t>
            </a:r>
            <a:endParaRPr lang="en-US" sz="1800"/>
          </a:p>
        </p:txBody>
      </p:sp>
      <p:sp>
        <p:nvSpPr>
          <p:cNvPr id="1428616171" name="Shape 6"/>
          <p:cNvSpPr/>
          <p:nvPr/>
        </p:nvSpPr>
        <p:spPr bwMode="auto">
          <a:xfrm>
            <a:off x="8093865" y="3740845"/>
            <a:ext cx="3386549" cy="1022548"/>
          </a:xfrm>
          <a:prstGeom prst="roundRect">
            <a:avLst>
              <a:gd name="adj" fmla="val 20865"/>
            </a:avLst>
          </a:prstGeom>
          <a:solidFill>
            <a:srgbClr val="2563EB"/>
          </a:solidFill>
          <a:ln w="6350">
            <a:solidFill>
              <a:srgbClr val="D5DEEE"/>
            </a:solidFill>
            <a:prstDash val="solid"/>
          </a:ln>
          <a:effectLst>
            <a:outerShdw blurRad="227330" dist="74930" dir="5400000" algn="bl" rotWithShape="0">
              <a:srgbClr val="EAF1FF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5354867" name="Text 7"/>
          <p:cNvSpPr/>
          <p:nvPr/>
        </p:nvSpPr>
        <p:spPr bwMode="auto">
          <a:xfrm>
            <a:off x="8328809" y="3950395"/>
            <a:ext cx="2916661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Turn business and market data into actionable AI guidance</a:t>
            </a:r>
            <a:endParaRPr lang="en-US" sz="1800"/>
          </a:p>
        </p:txBody>
      </p:sp>
      <p:pic>
        <p:nvPicPr>
          <p:cNvPr id="883590113" name="Picture 1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5317" y="5347813"/>
            <a:ext cx="3924848" cy="1457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Eda</dc:creator>
  <cp:lastModifiedBy/>
  <cp:revision>5</cp:revision>
  <dcterms:created xsi:type="dcterms:W3CDTF">2026-10-03T12:57:50Z</dcterms:created>
  <dcterms:modified xsi:type="dcterms:W3CDTF">2026-10-03T15:52:50Z</dcterms:modified>
</cp:coreProperties>
</file>